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3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1E2761"/>
                </a:solidFill>
                <a:latin typeface="Arial"/>
              </a:rPr>
              <a:t>Ingresos Mensuales 2025  (naranja = mejor mes: Agosto $150,739)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mensuales</c:v>
                </c:pt>
              </c:strCache>
            </c:strRef>
          </c:tx>
          <c:spPr>
            <a:solidFill>
              <a:srgbClr val="2D6A9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0C-44EE-A906-3D7A9AC6123E}"/>
              </c:ext>
            </c:extLst>
          </c:dPt>
          <c:dPt>
            <c:idx val="1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0C-44EE-A906-3D7A9AC6123E}"/>
              </c:ext>
            </c:extLst>
          </c:dPt>
          <c:dPt>
            <c:idx val="2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E0C-44EE-A906-3D7A9AC6123E}"/>
              </c:ext>
            </c:extLst>
          </c:dPt>
          <c:dPt>
            <c:idx val="3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E0C-44EE-A906-3D7A9AC6123E}"/>
              </c:ext>
            </c:extLst>
          </c:dPt>
          <c:dPt>
            <c:idx val="4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E0C-44EE-A906-3D7A9AC6123E}"/>
              </c:ext>
            </c:extLst>
          </c:dPt>
          <c:dPt>
            <c:idx val="5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E0C-44EE-A906-3D7A9AC6123E}"/>
              </c:ext>
            </c:extLst>
          </c:dPt>
          <c:dPt>
            <c:idx val="6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E0C-44EE-A906-3D7A9AC6123E}"/>
              </c:ext>
            </c:extLst>
          </c:dPt>
          <c:dPt>
            <c:idx val="7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E0C-44EE-A906-3D7A9AC6123E}"/>
              </c:ext>
            </c:extLst>
          </c:dPt>
          <c:dPt>
            <c:idx val="8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E0C-44EE-A906-3D7A9AC6123E}"/>
              </c:ext>
            </c:extLst>
          </c:dPt>
          <c:dPt>
            <c:idx val="9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EE0C-44EE-A906-3D7A9AC6123E}"/>
              </c:ext>
            </c:extLst>
          </c:dPt>
          <c:dPt>
            <c:idx val="10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EE0C-44EE-A906-3D7A9AC6123E}"/>
              </c:ext>
            </c:extLst>
          </c:dPt>
          <c:dPt>
            <c:idx val="11"/>
            <c:invertIfNegative val="0"/>
            <c:bubble3D val="0"/>
            <c:spPr>
              <a:solidFill>
                <a:srgbClr val="2D6A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EE0C-44EE-A906-3D7A9AC6123E}"/>
              </c:ext>
            </c:extLst>
          </c:dPt>
          <c:cat>
            <c:strRef>
              <c:f>Sheet1!$A$2:$A$13</c:f>
              <c:strCache>
                <c:ptCount val="12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Dic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142072</c:v>
                </c:pt>
                <c:pt idx="1">
                  <c:v>143904</c:v>
                </c:pt>
                <c:pt idx="2">
                  <c:v>145571</c:v>
                </c:pt>
                <c:pt idx="3">
                  <c:v>143543</c:v>
                </c:pt>
                <c:pt idx="4">
                  <c:v>139126</c:v>
                </c:pt>
                <c:pt idx="5">
                  <c:v>145765</c:v>
                </c:pt>
                <c:pt idx="6">
                  <c:v>140847</c:v>
                </c:pt>
                <c:pt idx="7">
                  <c:v>150739</c:v>
                </c:pt>
                <c:pt idx="8">
                  <c:v>145563</c:v>
                </c:pt>
                <c:pt idx="9">
                  <c:v>149727</c:v>
                </c:pt>
                <c:pt idx="10">
                  <c:v>144144</c:v>
                </c:pt>
                <c:pt idx="11">
                  <c:v>143662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EE0C-44EE-A906-3D7A9AC61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9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Saluden a la junta directiva. Preséntense como la consultora de SI contratada por Virvuto. Digan: "Hoy les presentamos una solución que va a cambiar la forma en que toman decisiones en su empresa."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muestren el contraste. Digan: "Virvuto tiene 31,001 transacciones de todo el año 2025. Ese es su oro. Pero sin el MIS, ese oro está enterrado. Nosotros lo desenterramos."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Expliquen brevemente cada característica. Énfasis en que el sistema funciona con los 31,001 registros reales del año 2025 de Virvuto.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5A5D-609C-794D-2FD1-EDC0D1AE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54ABA-5BC3-BD39-1D8C-37DEB7077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40B26-65FF-6AE7-7DD0-E86766566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8540C-BC3D-800C-4648-BB9194A98E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82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A8DD-180E-40D1-D2B4-99FC8596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A0E5F-CE92-D6C8-55A1-2E8BAEED4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4202A-DE12-9A16-4001-1AE51CC6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Momento de impacto. "¿Sabían que Agosto fue su mejor mes con $150,739? ¿O que Mayo fue el más bajo? Con el MIS esto está visible en segundos y pueden planificar el 2026 en base a eso."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2C5AD-C052-D037-2630-79807BC255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2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Conecten cada ventaja con datos reales del análisis. Usen los números concretos — Fernanda Navarro, Agosto, Mayo — para que la gerencia sienta que el MIS YA conoce su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Usen silencio después de mostrar el precio. Luego: "Por $2,499 su empresa pasa de adivinar a saber. Cada mes sin el MIS es un mes de decisiones al azar. Hoy pueden cambiar eso."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Abran espacio para preguntas. Si preguntan por el TPS en Java, expliquen cómo genera los CSV. Si preguntan por implementación, muestren el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9F">
              <a:alpha val="30000"/>
            </a:srgbClr>
          </a:solidFill>
          <a:ln w="12700">
            <a:solidFill>
              <a:srgbClr val="2D6A9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Información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(MIS)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datos transaccionales en decisiones inteligentes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2743200" cy="36576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Consultoría de Sistemas de Información  ·  ISID223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 el MIS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gerencia opera a ciegas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intuición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saben cuáles productos venden más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identifican a sus mejores clientes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quiebre de stock invisible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 transacciones sin analizar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el MIS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anual en tiempo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claros para cada área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productos y clientes identificados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inventario automáticas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Tendencias mensuales y por día de semana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ETL Automático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Extrae, limpia y transforma los datos crudos del TPS de Java en información lista para análisis.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38328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8 KPIs Clave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totales, ticket promedio, unidades vendidas, top productos, top clientes, ventas por categoría y más.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118872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6172200" y="118872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309360" y="1280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3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66420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Ejecutivo, de Ventas y de Inventario. Cada uno diseñado para un stakeholder específico.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Alerta de Stock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riesgo que detecta productos con alta demanda y bajo inventario antes de que se agoten.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338328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Análisis Anual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ventas mes a mes y por día de semana durante los 12 meses del año 2025.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172200" y="3063240"/>
            <a:ext cx="64008" cy="16916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309360" y="3154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Informes Gerenciales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53872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programados y de indicadores clave listos para presentar en reuniones de directorio.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encontramos</a:t>
            </a: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sus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reales extraídos del TPS de Virvuto — 31,001 transacciones del año 2025 completo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146304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$1,734,665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Totales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2025 completo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1463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2450592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$55.96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Promedio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transacción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146304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4626864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31,001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analizados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14630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803136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Líder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$264,734 en ingresos</a:t>
            </a:r>
            <a:endParaRPr lang="en-US" sz="9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880360"/>
          <a:ext cx="8595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650AA-F0D8-9368-78FB-A760F61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DAC6C6-37EC-8544-0598-0FE61DE5B653}"/>
              </a:ext>
            </a:extLst>
          </p:cNvPr>
          <p:cNvSpPr/>
          <p:nvPr/>
        </p:nvSpPr>
        <p:spPr>
          <a:xfrm>
            <a:off x="256032" y="72097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C" sz="3000" b="1" dirty="0">
                <a:solidFill>
                  <a:schemeClr val="accent1">
                    <a:lumMod val="50000"/>
                  </a:schemeClr>
                </a:solidFill>
              </a:rPr>
              <a:t>á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lisis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de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ventas</a:t>
            </a: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</a:rPr>
              <a:t> y </a:t>
            </a: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clientes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ED53DB9-0D9A-046A-4E05-581765717A22}"/>
              </a:ext>
            </a:extLst>
          </p:cNvPr>
          <p:cNvSpPr/>
          <p:nvPr/>
        </p:nvSpPr>
        <p:spPr>
          <a:xfrm>
            <a:off x="274320" y="13258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1B65A9-45AF-534D-82C2-72C5BCAF4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61292"/>
            <a:ext cx="9144000" cy="411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722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FCBA6-BAB4-7CEA-AB69-39CE35647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1CD59-7F70-DEC9-AE41-B10C57015C9D}"/>
              </a:ext>
            </a:extLst>
          </p:cNvPr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chemeClr val="accent1">
                    <a:lumMod val="50000"/>
                  </a:schemeClr>
                </a:solidFill>
              </a:rPr>
              <a:t>Inventario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72E9150-C549-EFC0-39A9-761980EFD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3870"/>
            <a:ext cx="9144000" cy="407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3975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94360" cy="82296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274320" y="130759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 Total del Negocio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operar a ciegas a tener un panel de control anual completo. La gerencia ve mes a mes qué vende, quién compra y cuánto ingresa.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10312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594360" cy="82296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274320" y="226771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de Clientes VIP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4688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Fernanda Navarro lidera con $19,827 en compras. El MIS identifica automáticamente los mejores clientes para programas de fidelización.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59436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274320" y="322783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de Pérdidas por Stock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índice de riesgo detecta productos con alta demanda y bajo stock ANTES de que se agoten, evitando ventas perdidas durante el año.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F4F6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274320" y="4023360"/>
            <a:ext cx="594360" cy="8229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274320" y="41879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690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Basada en Datos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fue el mejor mes ($150,739) y Mayo el más bajo ($139,126). Esto permite planificar campañas y reposición de inventario para el 2026.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2D6A9F">
              <a:alpha val="25000"/>
            </a:srgbClr>
          </a:solidFill>
          <a:ln w="12700">
            <a:solidFill>
              <a:srgbClr val="2D6A9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Momento de Decidir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empresa ya tiene los datos. Nosotros le damos la inteligencia.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035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303520" cy="6858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Paquete Completo MIS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$2,499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único de implementación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ETL + limpieza de 31,001 registros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dashboards del año completo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Notebook Jupyter ejecutable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Capacitación al equipo (2h)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Soporte por 30 días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5303520" cy="411480"/>
          </a:xfrm>
          <a:prstGeom prst="rect">
            <a:avLst/>
          </a:prstGeom>
          <a:solidFill>
            <a:srgbClr val="3BAB6F"/>
          </a:solidFill>
          <a:ln w="12700">
            <a:solidFill>
              <a:srgbClr val="3BAB6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Firma hoy: mantenimiento gratuito por 3 meses adicionales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164592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su negocio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claridad?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3474720"/>
            <a:ext cx="2377440" cy="6858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6309360" y="3547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¡Contáctenos!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VIRVUTO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negocio tiene datos.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 le damos la visión.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·  ¿Preguntas?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ISID223 — Introducción a los Sistemas de Información  ·  Prof. Iván Carrera  ·  EPN-FIS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864</Words>
  <Application>Microsoft Office PowerPoint</Application>
  <PresentationFormat>Presentación en pantalla (16:9)</PresentationFormat>
  <Paragraphs>101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Virvuto MIS — Presentación Gerencial</dc:title>
  <dc:subject>PptxGenJS Presentation</dc:subject>
  <dc:creator>PptxGenJS</dc:creator>
  <cp:lastModifiedBy>SHAIR NICOLAS PASPUEL VILLALVA</cp:lastModifiedBy>
  <cp:revision>2</cp:revision>
  <dcterms:created xsi:type="dcterms:W3CDTF">2026-05-28T23:08:44Z</dcterms:created>
  <dcterms:modified xsi:type="dcterms:W3CDTF">2026-05-29T00:49:57Z</dcterms:modified>
</cp:coreProperties>
</file>