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4" r:id="rId6"/>
    <p:sldId id="263" r:id="rId7"/>
    <p:sldId id="260" r:id="rId8"/>
    <p:sldId id="261" r:id="rId9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108" y="-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s-ES" sz="1100" b="0" i="0" u="none" strike="noStrike">
                <a:solidFill>
                  <a:srgbClr val="1E2761"/>
                </a:solidFill>
                <a:latin typeface="Arial"/>
              </a:rPr>
              <a:t>Ingresos Mensuales 2025  (naranja = mejor mes: Agosto $150,739)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mensuales</c:v>
                </c:pt>
              </c:strCache>
            </c:strRef>
          </c:tx>
          <c:spPr>
            <a:solidFill>
              <a:srgbClr val="2D6A9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E0C-44EE-A906-3D7A9AC6123E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EE0C-44EE-A906-3D7A9AC6123E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E0C-44EE-A906-3D7A9AC6123E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EE0C-44EE-A906-3D7A9AC6123E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EE0C-44EE-A906-3D7A9AC6123E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EE0C-44EE-A906-3D7A9AC6123E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EE0C-44EE-A906-3D7A9AC6123E}"/>
              </c:ext>
            </c:extLst>
          </c:dPt>
          <c:dPt>
            <c:idx val="7"/>
            <c:invertIfNegative val="0"/>
            <c:bubble3D val="0"/>
            <c:spPr>
              <a:solidFill>
                <a:srgbClr val="E07B3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E0C-44EE-A906-3D7A9AC6123E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EE0C-44EE-A906-3D7A9AC6123E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EE0C-44EE-A906-3D7A9AC6123E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EE0C-44EE-A906-3D7A9AC6123E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EE0C-44EE-A906-3D7A9AC6123E}"/>
              </c:ext>
            </c:extLst>
          </c:dPt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142072</c:v>
                </c:pt>
                <c:pt idx="1">
                  <c:v>143904</c:v>
                </c:pt>
                <c:pt idx="2">
                  <c:v>145571</c:v>
                </c:pt>
                <c:pt idx="3">
                  <c:v>143543</c:v>
                </c:pt>
                <c:pt idx="4">
                  <c:v>139126</c:v>
                </c:pt>
                <c:pt idx="5">
                  <c:v>145765</c:v>
                </c:pt>
                <c:pt idx="6">
                  <c:v>140847</c:v>
                </c:pt>
                <c:pt idx="7">
                  <c:v>150739</c:v>
                </c:pt>
                <c:pt idx="8">
                  <c:v>145563</c:v>
                </c:pt>
                <c:pt idx="9">
                  <c:v>149727</c:v>
                </c:pt>
                <c:pt idx="10">
                  <c:v>144144</c:v>
                </c:pt>
                <c:pt idx="11">
                  <c:v>143662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EE0C-44EE-A906-3D7A9AC612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3988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Saluden a la junta directiva. Preséntense como la consultora de SI contratada por Virvuto. Digan: "Hoy les presentamos una solución que va a cambiar la forma en que toman decisiones en su empresa."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muestren el contraste. Digan: "Virvuto tiene 31,001 transacciones de todo el año 2025. Ese es su oro. Pero sin el MIS, ese oro está enterrado. Nosotros lo desenterramos."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Expliquen brevemente cada característica. Énfasis en que el sistema funciona con los 31,001 registros reales del año 2025 de Virvuto.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de impacto. "¿Sabían que Agosto fue su mejor mes con $150,739? ¿O que Mayo fue el más bajo? Con el MIS esto está visible en segundos y pueden planificar el 2026 en base a eso."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F5A5D-609C-794D-2FD1-EDC0D1AEE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354ABA-5BC3-BD39-1D8C-37DEB7077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F40B26-65FF-6AE7-7DD0-E86766566B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de impacto. "¿Sabían que Agosto fue su mejor mes con $150,739? ¿O que Mayo fue el más bajo? Con el MIS esto está visible en segundos y pueden planificar el 2026 en base a eso."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8540C-BC3D-800C-4648-BB9194A98E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0823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3A8DD-180E-40D1-D2B4-99FC85961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DA0E5F-CE92-D6C8-55A1-2E8BAEED4A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84202A-DE12-9A16-4001-1AE51CC6A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de impacto. "¿Sabían que Agosto fue su mejor mes con $150,739? ¿O que Mayo fue el más bajo? Con el MIS esto está visible en segundos y pueden planificar el 2026 en base a eso."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F2C5AD-C052-D037-2630-79807BC255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22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Conecten cada ventaja con datos reales del análisis. Usen los números concretos — Fernanda Navarro, Agosto, Mayo — para que la gerencia sienta que el MIS YA conoce su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Usen silencio después de mostrar el precio. Luego: "Por $2,499 su empresa pasa de adivinar a saber. Cada mes sin el MIS es un mes de decisiones al azar. Hoy pueden cambiar eso."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Abran espacio para preguntas. Si preguntan por el TPS en Java, expliquen cómo genera los CSV. Si preguntan por implementación, muestren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Shape 1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2D6A9F">
              <a:alpha val="30000"/>
            </a:srgbClr>
          </a:solidFill>
          <a:ln w="12700">
            <a:solidFill>
              <a:srgbClr val="2D6A9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VIRVUTO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Información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(MIS)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Transformando datos transaccionales en decisiones inteligentes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2743200" cy="36576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Consultoría de Sistemas de Información  ·  ISID223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474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Sin el MIS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gerencia opera a ciegas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basadas en intuición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saben cuáles productos venden más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identifican a sus mejores clientes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quiebre de stock invisible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31,001 transacciones sin analizar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4023360" cy="3474720"/>
          </a:xfrm>
          <a:prstGeom prst="rect">
            <a:avLst/>
          </a:prstGeom>
          <a:solidFill>
            <a:srgbClr val="3BAB6F"/>
          </a:solidFill>
          <a:ln w="12700">
            <a:solidFill>
              <a:srgbClr val="3BA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484632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el MIS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6459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anual en tiempo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claros para cada área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productos y clientes identificados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inventario automáticas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Tendencias mensuales y por día de semana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basadas en datos reales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del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ETL Automático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Extrae, limpia y transforma los datos crudos del TPS de Java en información lista para análisis.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9" name="Shape 7"/>
          <p:cNvSpPr/>
          <p:nvPr/>
        </p:nvSpPr>
        <p:spPr>
          <a:xfrm>
            <a:off x="3246120" y="118872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3383280" y="12801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8 KPIs Clave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83280" y="166420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totales, ticket promedio, unidades vendidas, top productos, top clientes, ventas por categoría y más.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18872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3" name="Shape 11"/>
          <p:cNvSpPr/>
          <p:nvPr/>
        </p:nvSpPr>
        <p:spPr>
          <a:xfrm>
            <a:off x="6172200" y="118872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6309360" y="12801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3 Dashboards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166420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Ejecutivo, de Ventas y de Inventario. Cada uno diseñado para un stakeholder específico.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06324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Shape 15"/>
          <p:cNvSpPr/>
          <p:nvPr/>
        </p:nvSpPr>
        <p:spPr>
          <a:xfrm>
            <a:off x="320040" y="306324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457200" y="31546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Alerta de Stock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53872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riesgo que detecta productos con alta demanda y bajo inventario antes de que se agoten.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46120" y="306324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1" name="Shape 19"/>
          <p:cNvSpPr/>
          <p:nvPr/>
        </p:nvSpPr>
        <p:spPr>
          <a:xfrm>
            <a:off x="3246120" y="306324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3383280" y="31546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Análisis Anual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83280" y="353872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de ventas mes a mes y por día de semana durante los 12 meses del año 2025.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72200" y="306324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5" name="Shape 23"/>
          <p:cNvSpPr/>
          <p:nvPr/>
        </p:nvSpPr>
        <p:spPr>
          <a:xfrm>
            <a:off x="6172200" y="306324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6309360" y="31546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Informes Gerenciales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353872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programados y de indicadores clave listos para presentar en reuniones de directorio.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</a:t>
            </a:r>
            <a:r>
              <a:rPr lang="en-US" sz="30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encontramos</a:t>
            </a: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sus datos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reales extraídos del TPS de Virvuto — 31,001 transacciones del año 2025 completo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4320" y="1234440"/>
            <a:ext cx="2011680" cy="14630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5" name="Text 3"/>
          <p:cNvSpPr/>
          <p:nvPr/>
        </p:nvSpPr>
        <p:spPr>
          <a:xfrm>
            <a:off x="274320" y="13258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$1,734,665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202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Totales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2025 completo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50592" y="1234440"/>
            <a:ext cx="2011680" cy="146304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9" name="Text 7"/>
          <p:cNvSpPr/>
          <p:nvPr/>
        </p:nvSpPr>
        <p:spPr>
          <a:xfrm>
            <a:off x="2450592" y="13258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$55.96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450592" y="19202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Promedio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50592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transacción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26864" y="1234440"/>
            <a:ext cx="2011680" cy="1463040"/>
          </a:xfrm>
          <a:prstGeom prst="rect">
            <a:avLst/>
          </a:prstGeom>
          <a:solidFill>
            <a:srgbClr val="3BAB6F"/>
          </a:solidFill>
          <a:ln w="12700">
            <a:solidFill>
              <a:srgbClr val="3BA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3" name="Text 11"/>
          <p:cNvSpPr/>
          <p:nvPr/>
        </p:nvSpPr>
        <p:spPr>
          <a:xfrm>
            <a:off x="4626864" y="13258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31,001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26864" y="19202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analizados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803136" y="1234440"/>
            <a:ext cx="2011680" cy="146304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6803136" y="13258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03136" y="19202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 Líder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03136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$264,734 en ingresos</a:t>
            </a:r>
            <a:endParaRPr lang="en-US" sz="950" dirty="0"/>
          </a:p>
        </p:txBody>
      </p:sp>
      <p:graphicFrame>
        <p:nvGraphicFramePr>
          <p:cNvPr id="20" name="Chart 0"/>
          <p:cNvGraphicFramePr/>
          <p:nvPr/>
        </p:nvGraphicFramePr>
        <p:xfrm>
          <a:off x="274320" y="2880360"/>
          <a:ext cx="859536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F650AA-F0D8-9368-78FB-A760F6199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8DAC6C6-37EC-8544-0598-0FE61DE5B653}"/>
              </a:ext>
            </a:extLst>
          </p:cNvPr>
          <p:cNvSpPr/>
          <p:nvPr/>
        </p:nvSpPr>
        <p:spPr>
          <a:xfrm>
            <a:off x="256032" y="72097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chemeClr val="accent1">
                    <a:lumMod val="50000"/>
                  </a:schemeClr>
                </a:solidFill>
              </a:rPr>
              <a:t>An</a:t>
            </a:r>
            <a:r>
              <a:rPr lang="es-EC" sz="3000" b="1" dirty="0">
                <a:solidFill>
                  <a:schemeClr val="accent1">
                    <a:lumMod val="50000"/>
                  </a:schemeClr>
                </a:solidFill>
              </a:rPr>
              <a:t>á</a:t>
            </a:r>
            <a:r>
              <a:rPr lang="en-US" sz="3000" b="1" dirty="0" err="1">
                <a:solidFill>
                  <a:schemeClr val="accent1">
                    <a:lumMod val="50000"/>
                  </a:schemeClr>
                </a:solidFill>
              </a:rPr>
              <a:t>lisis</a:t>
            </a:r>
            <a:r>
              <a:rPr lang="en-US" sz="3000" b="1" dirty="0">
                <a:solidFill>
                  <a:schemeClr val="accent1">
                    <a:lumMod val="50000"/>
                  </a:schemeClr>
                </a:solidFill>
              </a:rPr>
              <a:t> de </a:t>
            </a:r>
            <a:r>
              <a:rPr lang="en-US" sz="3000" b="1" dirty="0" err="1">
                <a:solidFill>
                  <a:schemeClr val="accent1">
                    <a:lumMod val="50000"/>
                  </a:schemeClr>
                </a:solidFill>
              </a:rPr>
              <a:t>ventas</a:t>
            </a:r>
            <a:r>
              <a:rPr lang="en-US" sz="3000" b="1" dirty="0">
                <a:solidFill>
                  <a:schemeClr val="accent1">
                    <a:lumMod val="50000"/>
                  </a:schemeClr>
                </a:solidFill>
              </a:rPr>
              <a:t> y </a:t>
            </a:r>
            <a:r>
              <a:rPr lang="en-US" sz="3000" b="1" dirty="0" err="1">
                <a:solidFill>
                  <a:schemeClr val="accent1">
                    <a:lumMod val="50000"/>
                  </a:schemeClr>
                </a:solidFill>
              </a:rPr>
              <a:t>clientes</a:t>
            </a:r>
            <a:endParaRPr lang="en-US" sz="30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D53DB9-0D9A-046A-4E05-581765717A22}"/>
              </a:ext>
            </a:extLst>
          </p:cNvPr>
          <p:cNvSpPr/>
          <p:nvPr/>
        </p:nvSpPr>
        <p:spPr>
          <a:xfrm>
            <a:off x="274320" y="13258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B1B65A9-45AF-534D-82C2-72C5BCAF4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61292"/>
            <a:ext cx="9144000" cy="4110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3722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8FCBA6-BAB4-7CEA-AB69-39CE35647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831CD59-7F70-DEC9-AE41-B10C57015C9D}"/>
              </a:ext>
            </a:extLst>
          </p:cNvPr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chemeClr val="accent1">
                    <a:lumMod val="50000"/>
                  </a:schemeClr>
                </a:solidFill>
              </a:rPr>
              <a:t>Inventario</a:t>
            </a:r>
            <a:endParaRPr lang="en-US" sz="30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72E9150-C549-EFC0-39A9-761980EFD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63870"/>
            <a:ext cx="9144000" cy="407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3975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 Competitivas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8595360" cy="8229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594360" cy="82296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274320" y="130759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1188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Total del Negocio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50876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operar a ciegas a tener un panel de control anual completo. La gerencia ve mes a mes qué vende, quién compra y cuánto ingresa.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103120"/>
            <a:ext cx="8595360" cy="8229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0" name="Shape 8"/>
          <p:cNvSpPr/>
          <p:nvPr/>
        </p:nvSpPr>
        <p:spPr>
          <a:xfrm>
            <a:off x="274320" y="2103120"/>
            <a:ext cx="594360" cy="822960"/>
          </a:xfrm>
          <a:prstGeom prst="rect">
            <a:avLst/>
          </a:prstGeom>
          <a:solidFill>
            <a:srgbClr val="3BAB6F"/>
          </a:solidFill>
          <a:ln w="12700">
            <a:solidFill>
              <a:srgbClr val="3BAB6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274320" y="226771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21488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de Clientes VIP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46888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Fernanda Navarro lidera con $19,827 en compras. El MIS identifica automáticamente los mejores clientes para programas de fidelización.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8595360" cy="8229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5" name="Shape 13"/>
          <p:cNvSpPr/>
          <p:nvPr/>
        </p:nvSpPr>
        <p:spPr>
          <a:xfrm>
            <a:off x="274320" y="3063240"/>
            <a:ext cx="594360" cy="82296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274320" y="322783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31089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Prevención de Pérdidas por Stock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42900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índice de riesgo detecta productos con alta demanda y bajo stock ANTES de que se agoten, evitando ventas perdidas durante el año.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4023360"/>
            <a:ext cx="8595360" cy="8229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0" name="Shape 18"/>
          <p:cNvSpPr/>
          <p:nvPr/>
        </p:nvSpPr>
        <p:spPr>
          <a:xfrm>
            <a:off x="274320" y="4023360"/>
            <a:ext cx="594360" cy="82296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1" name="Text 19"/>
          <p:cNvSpPr/>
          <p:nvPr/>
        </p:nvSpPr>
        <p:spPr>
          <a:xfrm>
            <a:off x="274320" y="418795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" y="40690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Basada en Datos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38912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fue el mejor mes ($150,739) y Mayo el más bajo ($139,126). Esto permite planificar campañas y reposición de inventario para el 2026.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1371600"/>
            <a:ext cx="4572000" cy="4572000"/>
          </a:xfrm>
          <a:prstGeom prst="ellipse">
            <a:avLst/>
          </a:prstGeom>
          <a:solidFill>
            <a:srgbClr val="2D6A9F">
              <a:alpha val="25000"/>
            </a:srgbClr>
          </a:solidFill>
          <a:ln w="12700">
            <a:solidFill>
              <a:srgbClr val="2D6A9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Momento de Decidir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empresa ya tiene los datos. Nosotros le damos la inteligencia.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3035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303520" cy="6858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548640" y="148132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Paquete Completo MIS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</a:t>
            </a:r>
            <a:r>
              <a:rPr lang="en-US" sz="28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</a:t>
            </a: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anual</a:t>
            </a: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45,588 $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</a:t>
            </a:r>
            <a:r>
              <a:rPr lang="en-US" sz="11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3,799 $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10896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ETL + limpieza de 31,001 registros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3 dashboards del año completo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Notebook Jupyter ejecutable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Capacitación al equipo (2h)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Soporte por 30 días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5303520" cy="411480"/>
          </a:xfrm>
          <a:prstGeom prst="rect">
            <a:avLst/>
          </a:prstGeom>
          <a:solidFill>
            <a:srgbClr val="3BAB6F"/>
          </a:solidFill>
          <a:ln w="12700">
            <a:solidFill>
              <a:srgbClr val="3BAB6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457200" y="46177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 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hoy :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regalamos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17920" y="164592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¿Listos para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su negocio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claridad?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309360" y="3474720"/>
            <a:ext cx="2377440" cy="685800"/>
          </a:xfrm>
          <a:prstGeom prst="ellipse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" name="Text 13"/>
          <p:cNvSpPr/>
          <p:nvPr/>
        </p:nvSpPr>
        <p:spPr>
          <a:xfrm>
            <a:off x="6309360" y="354787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¡LO QUIERO!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VIRVUTO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negocio tiene datos.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 le damos la visión.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 ·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ISID223 — Introducción a los Sistemas de Información  ·  Prof. Iván Carrera  ·  EPN-FIS  · 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869</Words>
  <Application>Microsoft Office PowerPoint</Application>
  <PresentationFormat>On-screen Show (16:9)</PresentationFormat>
  <Paragraphs>101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Virvuto MIS — Presentación Gerencial</dc:title>
  <dc:subject>PptxGenJS Presentation</dc:subject>
  <dc:creator>PptxGenJS</dc:creator>
  <cp:lastModifiedBy>P3E009-E</cp:lastModifiedBy>
  <cp:revision>5</cp:revision>
  <dcterms:created xsi:type="dcterms:W3CDTF">2026-05-28T23:08:44Z</dcterms:created>
  <dcterms:modified xsi:type="dcterms:W3CDTF">2026-05-29T16:36:35Z</dcterms:modified>
</cp:coreProperties>
</file>