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5" r:id="rId6"/>
    <p:sldId id="264" r:id="rId7"/>
    <p:sldId id="260" r:id="rId8"/>
    <p:sldId id="261" r:id="rId9"/>
    <p:sldId id="262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7" d="100"/>
          <a:sy n="147" d="100"/>
        </p:scale>
        <p:origin x="10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3988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Saluden a la junta directiva. Preséntense como la consultora de SI contratada por Virvuto. Digan: "Hoy les presentamos una solución que va a cambiar la forma en que toman decisiones en su empresa."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Aquí muestren el contraste. Digan: "Virvuto tiene 31,001 transacciones de todo el año 2025. Ese es su oro. Pero sin el MIS, ese oro está enterrado. Nosotros lo desenterramos."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Expliquen brevemente cada característica. Énfasis en que el sistema funciona con los 31,001 registros reales del año 2025 de Virvuto.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impacto. "¿Sabían que Agosto fue su mejor mes con $150,739? ¿O que Mayo fue el más bajo? Con el MIS esto está visible en segundos y pueden planificar el 2026 en base a eso."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F5A5D-609C-794D-2FD1-EDC0D1AEE6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354ABA-5BC3-BD39-1D8C-37DEB70773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F40B26-65FF-6AE7-7DD0-E86766566B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Momento de impacto. "¿Sabían que Agosto fue su mejor mes con $150,739? ¿O que Mayo fue el más bajo? Con el MIS esto está visible en segundos y pueden planificar el 2026 en base a eso."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8540C-BC3D-800C-4648-BB9194A98E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0823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Conecten cada ventaja con datos reales del análisis. Usen los números concretos — Fernanda Navarro, Agosto, Mayo — para que la gerencia sienta que el MIS YA conoce su negocio.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Usen silencio después de mostrar el precio. Luego: "Por $2,499 su empresa pasa de adivinar a saber. Cada mes sin el MIS es un mes de decisiones al azar. Hoy pueden cambiar eso."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Abran espacio para preguntas. Si preguntan por el TPS en Java, expliquen cómo genera los CSV. Si preguntan por implementación, muestren el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Shape 1"/>
          <p:cNvSpPr/>
          <p:nvPr/>
        </p:nvSpPr>
        <p:spPr>
          <a:xfrm>
            <a:off x="6583680" y="-1097280"/>
            <a:ext cx="4114800" cy="4114800"/>
          </a:xfrm>
          <a:prstGeom prst="ellipse">
            <a:avLst/>
          </a:prstGeom>
          <a:solidFill>
            <a:srgbClr val="2D6A9F">
              <a:alpha val="30000"/>
            </a:srgbClr>
          </a:solidFill>
          <a:ln w="12700">
            <a:solidFill>
              <a:srgbClr val="2D6A9F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VIRVUTO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7772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Información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Gerencial (MIS)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Transformando datos transaccionales en decisiones inteligentes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3291840"/>
            <a:ext cx="2743200" cy="36576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8" name="Text 6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Consultoría de Sistemas de Información  ·  ISID223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365760" y="1005840"/>
            <a:ext cx="4023360" cy="3474720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Sin el MIS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gerencia opera a ciegas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 en intuición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saben cuáles productos venden más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identifican a sus mejores clientes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quiebre de stock invisible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31,001 transacciones sin analizar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1005840"/>
            <a:ext cx="4023360" cy="347472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4846320" y="109728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el MIS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64592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anual en tiempo real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claros para cada área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 productos y clientes identificados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inventario automáticas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Tendencias mensuales y por día de semana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basadas en datos reales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del Sistema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06172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9" name="Shape 7"/>
          <p:cNvSpPr/>
          <p:nvPr/>
        </p:nvSpPr>
        <p:spPr>
          <a:xfrm>
            <a:off x="106172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0" name="Text 8"/>
          <p:cNvSpPr/>
          <p:nvPr/>
        </p:nvSpPr>
        <p:spPr>
          <a:xfrm>
            <a:off x="119888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8 KPIs Clave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19888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Ingresos totales, ticket promedio, unidades vendidas, top productos, top clientes, ventas por categoría y más.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26280" y="118872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3" name="Shape 11"/>
          <p:cNvSpPr/>
          <p:nvPr/>
        </p:nvSpPr>
        <p:spPr>
          <a:xfrm>
            <a:off x="4526280" y="118872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4" name="Text 12"/>
          <p:cNvSpPr/>
          <p:nvPr/>
        </p:nvSpPr>
        <p:spPr>
          <a:xfrm>
            <a:off x="4663440" y="128016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3 Dashboards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663440" y="166420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Ejecutivo, de Ventas y de Inventario. Cada uno diseñado para un stakeholder específico.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2004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7" name="Shape 15"/>
          <p:cNvSpPr/>
          <p:nvPr/>
        </p:nvSpPr>
        <p:spPr>
          <a:xfrm>
            <a:off x="32004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8" name="Text 16"/>
          <p:cNvSpPr/>
          <p:nvPr/>
        </p:nvSpPr>
        <p:spPr>
          <a:xfrm>
            <a:off x="45720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Alerta de Stock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de riesgo que detecta productos con alta demanda y bajo inventario antes de que se agoten.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24612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1" name="Shape 19"/>
          <p:cNvSpPr/>
          <p:nvPr/>
        </p:nvSpPr>
        <p:spPr>
          <a:xfrm>
            <a:off x="324612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2" name="Text 20"/>
          <p:cNvSpPr/>
          <p:nvPr/>
        </p:nvSpPr>
        <p:spPr>
          <a:xfrm>
            <a:off x="338328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Análisis Anual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8328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de ventas mes a mes y por día de semana durante los 12 meses del año 2025.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72200" y="3063240"/>
            <a:ext cx="2743200" cy="169164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5" name="Shape 23"/>
          <p:cNvSpPr/>
          <p:nvPr/>
        </p:nvSpPr>
        <p:spPr>
          <a:xfrm>
            <a:off x="6172200" y="3063240"/>
            <a:ext cx="64008" cy="169164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6" name="Text 24"/>
          <p:cNvSpPr/>
          <p:nvPr/>
        </p:nvSpPr>
        <p:spPr>
          <a:xfrm>
            <a:off x="6309360" y="31546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 Informes Gerenciales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3538728"/>
            <a:ext cx="2514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programados y de indicadores clave listos para presentar en reuniones de directorio.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</a:t>
            </a:r>
            <a:r>
              <a:rPr lang="en-US" sz="3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encontramos</a:t>
            </a: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sus datos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749808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 reales extraídos del TPS de Virvuto — 31,001 transacciones del año 2025 completo</a:t>
            </a:r>
            <a:endParaRPr lang="en-US" sz="12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A18AA196-DA54-4A67-8AA5-F59064EDB8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876929"/>
            <a:ext cx="8572500" cy="458407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B8C482A-9410-4BD2-BB89-862683FA8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" y="134806"/>
            <a:ext cx="5640144" cy="21003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263E33F-D821-46F1-B405-25B409F234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7350" y="2235200"/>
            <a:ext cx="3964465" cy="27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17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F650AA-F0D8-9368-78FB-A760F6199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8DAC6C6-37EC-8544-0598-0FE61DE5B653}"/>
              </a:ext>
            </a:extLst>
          </p:cNvPr>
          <p:cNvSpPr/>
          <p:nvPr/>
        </p:nvSpPr>
        <p:spPr>
          <a:xfrm>
            <a:off x="256032" y="72097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An</a:t>
            </a:r>
            <a:r>
              <a:rPr lang="es-EC" sz="3000" b="1" dirty="0">
                <a:solidFill>
                  <a:schemeClr val="accent1">
                    <a:lumMod val="50000"/>
                  </a:schemeClr>
                </a:solidFill>
              </a:rPr>
              <a:t>á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lisis</a:t>
            </a: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 de 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ventas</a:t>
            </a:r>
            <a:r>
              <a:rPr lang="en-US" sz="3000" b="1" dirty="0">
                <a:solidFill>
                  <a:schemeClr val="accent1">
                    <a:lumMod val="50000"/>
                  </a:schemeClr>
                </a:solidFill>
              </a:rPr>
              <a:t> y </a:t>
            </a:r>
            <a:r>
              <a:rPr lang="en-US" sz="3000" b="1" dirty="0" err="1">
                <a:solidFill>
                  <a:schemeClr val="accent1">
                    <a:lumMod val="50000"/>
                  </a:schemeClr>
                </a:solidFill>
              </a:rPr>
              <a:t>clientes</a:t>
            </a:r>
            <a:endParaRPr lang="en-US" sz="30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ED53DB9-0D9A-046A-4E05-581765717A22}"/>
              </a:ext>
            </a:extLst>
          </p:cNvPr>
          <p:cNvSpPr/>
          <p:nvPr/>
        </p:nvSpPr>
        <p:spPr>
          <a:xfrm>
            <a:off x="274320" y="13258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B1B65A9-45AF-534D-82C2-72C5BCAF47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993042"/>
            <a:ext cx="9144000" cy="41101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3722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365760" y="18288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Ventajas Competitivas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5" name="Shape 3"/>
          <p:cNvSpPr/>
          <p:nvPr/>
        </p:nvSpPr>
        <p:spPr>
          <a:xfrm>
            <a:off x="274320" y="1143000"/>
            <a:ext cx="594360" cy="822960"/>
          </a:xfrm>
          <a:prstGeom prst="rect">
            <a:avLst/>
          </a:prstGeom>
          <a:solidFill>
            <a:srgbClr val="2D6A9F"/>
          </a:solidFill>
          <a:ln w="12700">
            <a:solidFill>
              <a:srgbClr val="2D6A9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6" name="Text 4"/>
          <p:cNvSpPr/>
          <p:nvPr/>
        </p:nvSpPr>
        <p:spPr>
          <a:xfrm>
            <a:off x="274320" y="130759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11887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Total del Negocio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150876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operar a ciegas a tener un panel de control anual completo. La gerencia ve mes a mes qué vende, quién compra y cuánto ingresa.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10312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0" name="Shape 8"/>
          <p:cNvSpPr/>
          <p:nvPr/>
        </p:nvSpPr>
        <p:spPr>
          <a:xfrm>
            <a:off x="274320" y="2103120"/>
            <a:ext cx="594360" cy="82296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1" name="Text 9"/>
          <p:cNvSpPr/>
          <p:nvPr/>
        </p:nvSpPr>
        <p:spPr>
          <a:xfrm>
            <a:off x="274320" y="226771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21488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Retención de Clientes VIP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05840" y="246888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Fernanda Navarro lidera con $19,827 en compras. El MIS identifica automáticamente los mejores clientes para programas de fidelización.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306324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15" name="Shape 13"/>
          <p:cNvSpPr/>
          <p:nvPr/>
        </p:nvSpPr>
        <p:spPr>
          <a:xfrm>
            <a:off x="274320" y="3063240"/>
            <a:ext cx="594360" cy="82296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6" name="Text 14"/>
          <p:cNvSpPr/>
          <p:nvPr/>
        </p:nvSpPr>
        <p:spPr>
          <a:xfrm>
            <a:off x="274320" y="322783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05840" y="3108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Prevención de Pérdidas por Stock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05840" y="342900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índice de riesgo detecta productos con alta demanda y bajo stock ANTES de que se agoten, evitando ventas perdidas durante el año.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74320" y="4023360"/>
            <a:ext cx="8595360" cy="822960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20" name="Shape 18"/>
          <p:cNvSpPr/>
          <p:nvPr/>
        </p:nvSpPr>
        <p:spPr>
          <a:xfrm>
            <a:off x="274320" y="4023360"/>
            <a:ext cx="594360" cy="822960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21" name="Text 19"/>
          <p:cNvSpPr/>
          <p:nvPr/>
        </p:nvSpPr>
        <p:spPr>
          <a:xfrm>
            <a:off x="274320" y="4187952"/>
            <a:ext cx="594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" y="40690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Basada en Datos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005840" y="4389120"/>
            <a:ext cx="7680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fue el mejor mes ($150,739) y Mayo el más bajo ($139,126). Esto permite planificar campañas y reposición de inventario para el 2026.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1371600"/>
            <a:ext cx="4572000" cy="4572000"/>
          </a:xfrm>
          <a:prstGeom prst="ellipse">
            <a:avLst/>
          </a:prstGeom>
          <a:solidFill>
            <a:srgbClr val="2D6A9F">
              <a:alpha val="25000"/>
            </a:srgbClr>
          </a:solidFill>
          <a:ln w="12700">
            <a:solidFill>
              <a:srgbClr val="2D6A9F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6400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Momento de Decidir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empresa ya tiene los datos. Nosotros le damos la inteligencia.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0352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C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5303520" cy="6858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 Paquete Completo MIS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57200" y="2148840"/>
            <a:ext cx="5303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</a:t>
            </a:r>
            <a:r>
              <a:rPr lang="en-US" sz="28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único</a:t>
            </a: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8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anual</a:t>
            </a: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40,000 $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5303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 </a:t>
            </a:r>
            <a:r>
              <a:rPr lang="en-US" sz="11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mensual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i="1" dirty="0" err="1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3,799 $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108960"/>
            <a:ext cx="4754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3 dashboards del año completo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Notebook Jupyter ejecutable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Capacitación al equipo (2h)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Soporte por 30 días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4572000"/>
            <a:ext cx="5303520" cy="411480"/>
          </a:xfrm>
          <a:prstGeom prst="rect">
            <a:avLst/>
          </a:prstGeom>
          <a:solidFill>
            <a:srgbClr val="3BAB6F"/>
          </a:solidFill>
          <a:ln w="12700">
            <a:solidFill>
              <a:srgbClr val="3BAB6F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2" name="Text 10"/>
          <p:cNvSpPr/>
          <p:nvPr/>
        </p:nvSpPr>
        <p:spPr>
          <a:xfrm>
            <a:off x="457200" y="461772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🎁 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hoy :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regalamos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</a:t>
            </a:r>
            <a:r>
              <a:rPr lang="en-US" sz="10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</a:t>
            </a: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🎁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17920" y="1645920"/>
            <a:ext cx="2560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¿Listos para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su negocio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claridad?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309360" y="3474720"/>
            <a:ext cx="2377440" cy="685800"/>
          </a:xfrm>
          <a:prstGeom prst="ellipse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15" name="Text 13"/>
          <p:cNvSpPr/>
          <p:nvPr/>
        </p:nvSpPr>
        <p:spPr>
          <a:xfrm>
            <a:off x="6309360" y="354787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¡LO QUIERO!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es-EC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800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VIRVUTO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8229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negocio tiene datos.</a:t>
            </a:r>
            <a:endParaRPr lang="en-US" sz="3600" dirty="0"/>
          </a:p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Nosotros le damos la visión.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8899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 ·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4663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66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ISID223 — Introducción a los Sistemas de Información  ·  Prof. Iván Carrera  ·  EPN-FIS  · 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759</Words>
  <Application>Microsoft Office PowerPoint</Application>
  <PresentationFormat>On-screen Show (16:9)</PresentationFormat>
  <Paragraphs>82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Virvuto MIS — Presentación Gerencial</dc:title>
  <dc:subject>PptxGenJS Presentation</dc:subject>
  <dc:creator>PptxGenJS</dc:creator>
  <cp:lastModifiedBy>P3E009-E</cp:lastModifiedBy>
  <cp:revision>10</cp:revision>
  <dcterms:created xsi:type="dcterms:W3CDTF">2026-05-28T23:08:44Z</dcterms:created>
  <dcterms:modified xsi:type="dcterms:W3CDTF">2026-05-29T17:55:59Z</dcterms:modified>
</cp:coreProperties>
</file>